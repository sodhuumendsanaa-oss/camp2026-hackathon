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6400" b="1">
                <a:solidFill>
                  <a:srgbClr val="4ADE80"/>
                </a:solidFill>
                <a:latin typeface="Outfit"/>
              </a:defRPr>
            </a:pPr>
            <a:r>
              <a:t>FreshGuard</a:t>
            </a:r>
          </a:p>
          <a:p>
            <a:pPr>
              <a:spcAft>
                <a:spcPts val="4000"/>
              </a:spcAft>
              <a:defRPr sz="2200">
                <a:solidFill>
                  <a:srgbClr val="F1F5F9"/>
                </a:solidFill>
                <a:latin typeface="Outfit"/>
              </a:defRPr>
            </a:pPr>
            <a:r>
              <a:t>〜 温度を考慮した賢い品質管理で、食品ロスと家計の無駄をゼロへ 〜</a:t>
            </a:r>
          </a:p>
          <a:p>
            <a:pPr>
              <a:defRPr sz="1400">
                <a:solidFill>
                  <a:srgbClr val="94A3B8"/>
                </a:solidFill>
                <a:latin typeface="Outfit"/>
              </a:defRPr>
            </a:pPr>
            <a:r>
              <a:t>Presented by FreshGuard Project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ADE80"/>
                </a:solidFill>
                <a:latin typeface="Outfit"/>
              </a:defRPr>
            </a:pPr>
            <a:r>
              <a:t>現代人が直面する「冷蔵庫の3大課題」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F87171"/>
                </a:solidFill>
              </a:defRPr>
            </a:pPr>
            <a:r>
              <a:t>1. 「うっかり忘れ」による廃棄ロス</a:t>
            </a:r>
          </a:p>
          <a:p>
            <a:pPr>
              <a:spcAft>
                <a:spcPts val="2400"/>
              </a:spcAft>
              <a:defRPr sz="1800">
                <a:solidFill>
                  <a:srgbClr val="F1F5F9"/>
                </a:solidFill>
              </a:defRPr>
            </a:pPr>
            <a:r>
              <a:t>  ・賞味期限に気づいた時には既に手遅れ。家計と環境にダイレクトなダメージを与えている。</a:t>
            </a:r>
          </a:p>
          <a:p>
            <a:pPr>
              <a:spcAft>
                <a:spcPts val="600"/>
              </a:spcAft>
              <a:defRPr sz="2400" b="1">
                <a:solidFill>
                  <a:srgbClr val="F87171"/>
                </a:solidFill>
              </a:defRPr>
            </a:pPr>
            <a:r>
              <a:t>2. 手入力による「管理疲れ」と三日坊主</a:t>
            </a:r>
          </a:p>
          <a:p>
            <a:pPr>
              <a:spcAft>
                <a:spcPts val="2400"/>
              </a:spcAft>
              <a:defRPr sz="1800">
                <a:solidFill>
                  <a:srgbClr val="F1F5F9"/>
                </a:solidFill>
              </a:defRPr>
            </a:pPr>
            <a:r>
              <a:t>  ・既存の管理アプリや家計簿は、食材名や日付をいちいち手入力する認知負荷が高すぎて続かない。</a:t>
            </a:r>
          </a:p>
          <a:p>
            <a:pPr>
              <a:spcAft>
                <a:spcPts val="600"/>
              </a:spcAft>
              <a:defRPr sz="2400" b="1">
                <a:solidFill>
                  <a:srgbClr val="F87171"/>
                </a:solidFill>
              </a:defRPr>
            </a:pPr>
            <a:r>
              <a:t>3. 保存場所（温度）を無視した「一律」な期限表記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r>
              <a:t>  ・夏場の常温放置と冷蔵庫では劣化速度が全く違うのに、従来のシステムは一律の日付しか表示できない。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ADE80"/>
                </a:solidFill>
                <a:latin typeface="Outfit"/>
              </a:defRPr>
            </a:pPr>
            <a:r>
              <a:t>なぜこれまでの方法では解決できなかったのか？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87171"/>
                </a:solidFill>
              </a:defRPr>
            </a:pPr>
            <a:r>
              <a:t>❌ メモやカレンダーによる管理の限界</a:t>
            </a:r>
          </a:p>
          <a:p>
            <a:pPr>
              <a:spcAft>
                <a:spcPts val="3600"/>
              </a:spcAft>
              <a:defRPr sz="1800">
                <a:solidFill>
                  <a:srgbClr val="F1F5F9"/>
                </a:solidFill>
              </a:defRPr>
            </a:pPr>
            <a:r>
              <a:t>  ・わざわざカレンダーやメモを確認しにいかなければならず、買い出し中などに思い出せない。</a:t>
            </a:r>
          </a:p>
          <a:p>
            <a:pPr>
              <a:spcAft>
                <a:spcPts val="800"/>
              </a:spcAft>
              <a:defRPr sz="2200" b="1">
                <a:solidFill>
                  <a:srgbClr val="F87171"/>
                </a:solidFill>
              </a:defRPr>
            </a:pPr>
            <a:r>
              <a:t>❌ 既存管理アプリのユーザー体験（UX）の崩壊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r>
              <a:t>  ・「買い出しのたびに、10品以上の食材の名前、個数、価格、賞味期限を入力する」のは、</a:t>
            </a:r>
            <a:br/>
            <a:r>
              <a:t>    家計簿を挫折するのと同様に、ユーザーにとって高すぎる参入障壁になっていた。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ADE80"/>
                </a:solidFill>
                <a:latin typeface="Outfit"/>
              </a:defRPr>
            </a:pPr>
            <a:r>
              <a:t>解決策：スマート食品ロスゼロシステム「FreshGuard」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600" b="1">
                <a:solidFill>
                  <a:srgbClr val="4ADE80"/>
                </a:solidFill>
              </a:defRPr>
            </a:pPr>
            <a:r>
              <a:t>ユーザーのやること・覚えることは「ゼロ」</a:t>
            </a:r>
          </a:p>
          <a:p>
            <a:pPr>
              <a:spcAft>
                <a:spcPts val="400"/>
              </a:spcAft>
              <a:defRPr sz="2000" b="1">
                <a:solidFill>
                  <a:srgbClr val="F1F5F9"/>
                </a:solidFill>
              </a:defRPr>
            </a:pPr>
            <a:r>
              <a:t>💡 解決アプローチ 1：AIレシートVision一括登録 (Gemini)</a:t>
            </a:r>
          </a:p>
          <a:p>
            <a:pPr>
              <a:spcAft>
                <a:spcPts val="1800"/>
              </a:spcAft>
              <a:defRPr sz="1600">
                <a:solidFill>
                  <a:srgbClr val="94A3B8"/>
                </a:solidFill>
              </a:defRPr>
            </a:pPr>
            <a:r>
              <a:t>  ・カメラでレシートを撮影するだけで、AIが自動で全食材を一括抽出してデータベース化。</a:t>
            </a:r>
          </a:p>
          <a:p>
            <a:pPr>
              <a:spcAft>
                <a:spcPts val="400"/>
              </a:spcAft>
              <a:defRPr sz="2000" b="1">
                <a:solidFill>
                  <a:srgbClr val="F1F5F9"/>
                </a:solidFill>
              </a:defRPr>
            </a:pPr>
            <a:r>
              <a:t>💡 解決アプローチ 2：Q10則による動的な賞味期限シミュレーション</a:t>
            </a:r>
          </a:p>
          <a:p>
            <a:pPr>
              <a:spcAft>
                <a:spcPts val="1800"/>
              </a:spcAft>
              <a:defRPr sz="1600">
                <a:solidFill>
                  <a:srgbClr val="94A3B8"/>
                </a:solidFill>
              </a:defRPr>
            </a:pPr>
            <a:r>
              <a:t>  ・リアルタイム気温APIと連携し、物理化学の法則（Q10則）で実際の傷み具合をスマート予測。</a:t>
            </a:r>
          </a:p>
          <a:p>
            <a:pPr>
              <a:spcAft>
                <a:spcPts val="400"/>
              </a:spcAft>
              <a:defRPr sz="2000" b="1">
                <a:solidFill>
                  <a:srgbClr val="F1F5F9"/>
                </a:solidFill>
              </a:defRPr>
            </a:pPr>
            <a:r>
              <a:t>💡 解決アプローチ 3：ワンタップEcoカウンター &amp; LINE Bot連携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  ・「食べた！🍳」「廃棄🗑」のワンタップで家計節約額とCO2削減量を自動算出し、LINEに毎朝通知。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ADE80"/>
                </a:solidFill>
                <a:latin typeface="Outfit"/>
              </a:defRPr>
            </a:pPr>
            <a:r>
              <a:t>🤖 レシート画像から自動一括抽出 (Gemini)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400" b="1">
                <a:solidFill>
                  <a:srgbClr val="F1F5F9"/>
                </a:solidFill>
              </a:defRPr>
            </a:pPr>
            <a:r>
              <a:t>「撮影するだけ。あとはAIがすべて仕分ける」</a:t>
            </a:r>
          </a:p>
          <a:p>
            <a:pPr>
              <a:spcAft>
                <a:spcPts val="600"/>
              </a:spcAft>
              <a:defRPr sz="2000" b="1">
                <a:solidFill>
                  <a:srgbClr val="4ADE80"/>
                </a:solidFill>
              </a:defRPr>
            </a:pPr>
            <a:r>
              <a:t>▪️ Gemini 2.5 Flash による圧倒的な解析力</a:t>
            </a:r>
          </a:p>
          <a:p>
            <a:pPr>
              <a:spcAft>
                <a:spcPts val="2400"/>
              </a:spcAft>
              <a:defRPr sz="1800">
                <a:solidFill>
                  <a:srgbClr val="F1F5F9"/>
                </a:solidFill>
              </a:defRPr>
            </a:pPr>
            <a:r>
              <a:t>  ・レシート画像から「食品」だけを自動で見分け、名前・最適な保存方法（冷蔵・冷凍・常温）を自動判別。</a:t>
            </a:r>
            <a:br/>
            <a:r>
              <a:t>  ・合計金額や日用品、消費税などの不要な項目はAIが賢く除外します。</a:t>
            </a:r>
          </a:p>
          <a:p>
            <a:pPr>
              <a:spcAft>
                <a:spcPts val="600"/>
              </a:spcAft>
              <a:defRPr sz="2000" b="1">
                <a:solidFill>
                  <a:srgbClr val="4ADE80"/>
                </a:solidFill>
              </a:defRPr>
            </a:pPr>
            <a:r>
              <a:t>▪️ 直感的で手軽な「確認画面」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r>
              <a:t>  ・抽出結果が美しいリストで表示され、ワンタップで数量調整や追加・除外が可能。</a:t>
            </a:r>
            <a:br/>
            <a:r>
              <a:t>  ・「一括登録」を押せば、複数の食材が一瞬であなたの冷蔵庫に追加されます。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ADE80"/>
                </a:solidFill>
                <a:latin typeface="Outfit"/>
              </a:defRPr>
            </a:pPr>
            <a:r>
              <a:t>🧪 物理化学に基づいた「賞味期限予測」エンジン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>
                <a:solidFill>
                  <a:srgbClr val="F1F5F9"/>
                </a:solidFill>
              </a:defRPr>
            </a:pPr>
            <a:r>
              <a:t>「温度が変われば、賞味期限も変わる」</a:t>
            </a:r>
          </a:p>
          <a:p>
            <a:pPr>
              <a:spcAft>
                <a:spcPts val="600"/>
              </a:spcAft>
              <a:defRPr sz="2000" b="1">
                <a:solidFill>
                  <a:srgbClr val="4ADE80"/>
                </a:solidFill>
              </a:defRPr>
            </a:pPr>
            <a:r>
              <a:t>🧪 Q10加速則（熱力学・生物化学）の実装</a:t>
            </a:r>
          </a:p>
          <a:p>
            <a:pPr>
              <a:spcAft>
                <a:spcPts val="2000"/>
              </a:spcAft>
              <a:defRPr sz="1800">
                <a:solidFill>
                  <a:srgbClr val="F1F5F9"/>
                </a:solidFill>
              </a:defRPr>
            </a:pPr>
            <a:r>
              <a:t>  ・温度が10℃上がると、食材の腐敗・劣化速度は「約2倍」になるという科学の法則を忠実にプログラム化。</a:t>
            </a:r>
          </a:p>
          <a:p>
            <a:pPr>
              <a:spcAft>
                <a:spcPts val="600"/>
              </a:spcAft>
              <a:defRPr sz="2000" b="1">
                <a:solidFill>
                  <a:srgbClr val="4ADE80"/>
                </a:solidFill>
              </a:defRPr>
            </a:pPr>
            <a:r>
              <a:t>☁️ リアルタイムな外部気温API連携 (Open-Meteo)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r>
              <a:t>  ・ユーザーの位置情報から最新の気温を自動でバックグラウンド取得。</a:t>
            </a:r>
            <a:br/>
            <a:r>
              <a:t>  ・「夏場の常温保存（30℃）」なら劣化スピードを自動加速し、実効期限を縮めて警告。食品ロスを未然に防ぎます。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ADE80"/>
                </a:solidFill>
                <a:latin typeface="Outfit"/>
              </a:defRPr>
            </a:pPr>
            <a:r>
              <a:t>🌿 ユーザー負担ゼロ：Eco家計簿＆SDGsカウンター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>
                <a:solidFill>
                  <a:srgbClr val="F1F5F9"/>
                </a:solidFill>
              </a:defRPr>
            </a:pPr>
            <a:r>
              <a:t>「ただ普通に使っているだけで、環境貢献が可視化される」</a:t>
            </a:r>
          </a:p>
          <a:p>
            <a:pPr>
              <a:spcAft>
                <a:spcPts val="400"/>
              </a:spcAft>
              <a:defRPr sz="2000" b="1">
                <a:solidFill>
                  <a:srgbClr val="4ADE80"/>
                </a:solidFill>
              </a:defRPr>
            </a:pPr>
            <a:r>
              <a:t>💰 裏側での自動価格推計（入力の省略）</a:t>
            </a:r>
          </a:p>
          <a:p>
            <a:pPr>
              <a:spcAft>
                <a:spcPts val="1800"/>
              </a:spcAft>
              <a:defRPr sz="1800">
                <a:solidFill>
                  <a:srgbClr val="F1F5F9"/>
                </a:solidFill>
              </a:defRPr>
            </a:pPr>
            <a:r>
              <a:t>  ・面倒な金額入力を完全排除。食材のカテゴリ・分量から標準価格を裏側で全自動算出。</a:t>
            </a:r>
          </a:p>
          <a:p>
            <a:pPr>
              <a:spcAft>
                <a:spcPts val="400"/>
              </a:spcAft>
              <a:defRPr sz="2000" b="1">
                <a:solidFill>
                  <a:srgbClr val="4ADE80"/>
                </a:solidFill>
              </a:defRPr>
            </a:pPr>
            <a:r>
              <a:t>🍳 楽しさを生むワンタップ「食べた！」「廃棄」アクション</a:t>
            </a:r>
          </a:p>
          <a:p>
            <a:pPr>
              <a:spcAft>
                <a:spcPts val="1800"/>
              </a:spcAft>
              <a:defRPr sz="1800">
                <a:solidFill>
                  <a:srgbClr val="F1F5F9"/>
                </a:solidFill>
              </a:defRPr>
            </a:pPr>
            <a:r>
              <a:t>  ・使い終わったらボタンをポチッと押すだけ。流れるようなスライドアニメーションで消去され快感を演出。</a:t>
            </a:r>
          </a:p>
          <a:p>
            <a:pPr>
              <a:spcAft>
                <a:spcPts val="400"/>
              </a:spcAft>
              <a:defRPr sz="2000" b="1">
                <a:solidFill>
                  <a:srgbClr val="4ADE80"/>
                </a:solidFill>
              </a:defRPr>
            </a:pPr>
            <a:r>
              <a:t>🌿 SDGsダッシュボードの自動記録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r>
              <a:t>  ・「節約できたお得額」「無駄にした損失額」「削減できたCO2排出量」が自動で積み重なり、やりがいを実感。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ADE80"/>
                </a:solidFill>
                <a:latin typeface="Outfit"/>
              </a:defRPr>
            </a:pPr>
            <a:r>
              <a:t>💬 生活に溶け込む「LINE Bot連携」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400" b="1">
                <a:solidFill>
                  <a:srgbClr val="F1F5F9"/>
                </a:solidFill>
              </a:defRPr>
            </a:pPr>
            <a:r>
              <a:t>「アプリを開く必要すらなく、習慣になる」</a:t>
            </a:r>
          </a:p>
          <a:p>
            <a:pPr>
              <a:spcAft>
                <a:spcPts val="600"/>
              </a:spcAft>
              <a:defRPr sz="2000" b="1">
                <a:solidFill>
                  <a:srgbClr val="4ADE80"/>
                </a:solidFill>
              </a:defRPr>
            </a:pPr>
            <a:r>
              <a:t>⏰ 毎朝8時の「自動賞味期限アラート」プッシュ通知</a:t>
            </a:r>
          </a:p>
          <a:p>
            <a:pPr>
              <a:spcAft>
                <a:spcPts val="2400"/>
              </a:spcAft>
              <a:defRPr sz="1800">
                <a:solidFill>
                  <a:srgbClr val="F1F5F9"/>
                </a:solidFill>
              </a:defRPr>
            </a:pPr>
            <a:r>
              <a:t>  ・冷蔵庫の中から賞味期限が「本日中・期限切れ（赤）」や「残り1〜3日（黄）」の食材を自動抽出。</a:t>
            </a:r>
            <a:br/>
            <a:r>
              <a:t>  ・毎朝8時にLINEで自動配信し、今日使うべき食材を親切にお知らせ。</a:t>
            </a:r>
          </a:p>
          <a:p>
            <a:pPr>
              <a:spcAft>
                <a:spcPts val="600"/>
              </a:spcAft>
              <a:defRPr sz="2000" b="1">
                <a:solidFill>
                  <a:srgbClr val="4ADE80"/>
                </a:solidFill>
              </a:defRPr>
            </a:pPr>
            <a:r>
              <a:t>🛒 買い物中のダブり買いを防ぐ「双方向リスト返信」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r>
              <a:t>  * LINEに「リスト」または「在庫」と送信するだけで、現在の冷蔵庫の中身を瞬時にLINE上に一覧返信。</a:t>
            </a:r>
            <a:br/>
            <a:r>
              <a:t>  * スーパーの買い出し中に「あれ、冷蔵庫にあったっけ？」をその場で即座に確認できます。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ADE80"/>
                </a:solidFill>
                <a:latin typeface="Outfit"/>
              </a:defRPr>
            </a:pPr>
            <a:r>
              <a:t>💻 高い信頼性を誇るシステム構成 &amp; セキュリティ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400" b="1">
                <a:solidFill>
                  <a:srgbClr val="F1F5F9"/>
                </a:solidFill>
              </a:defRPr>
            </a:pPr>
            <a:r>
              <a:t>「プロダクトとしての実用性と安全性を最重視」</a:t>
            </a:r>
          </a:p>
          <a:p>
            <a:pPr>
              <a:spcAft>
                <a:spcPts val="400"/>
              </a:spcAft>
              <a:defRPr sz="1900" b="1">
                <a:solidFill>
                  <a:srgbClr val="4ADE80"/>
                </a:solidFill>
              </a:defRPr>
            </a:pPr>
            <a:r>
              <a:t>🔒 BCryptによる高度なパスワード暗号化とセッションセキュリティ</a:t>
            </a:r>
          </a:p>
          <a:p>
            <a:pPr>
              <a:spcAft>
                <a:spcPts val="1800"/>
              </a:spcAft>
              <a:defRPr sz="1600">
                <a:solidFill>
                  <a:srgbClr val="F1F5F9"/>
                </a:solidFill>
              </a:defRPr>
            </a:pPr>
            <a:r>
              <a:t>  ・個人情報を守るため、最先端のBCryptソルト付きハッシュ化を実装。</a:t>
            </a:r>
            <a:br/>
            <a:r>
              <a:t>  ・スマホのブラウザでも安全に機能する、セキュアな「Lax/HttpOnly」クッキーセッション管理。</a:t>
            </a:r>
          </a:p>
          <a:p>
            <a:pPr>
              <a:spcAft>
                <a:spcPts val="400"/>
              </a:spcAft>
              <a:defRPr sz="1900" b="1">
                <a:solidFill>
                  <a:srgbClr val="4ADE80"/>
                </a:solidFill>
              </a:defRPr>
            </a:pPr>
            <a:r>
              <a:t>🔌 スムーズなマルチクラウド・APIインテグレーション</a:t>
            </a:r>
          </a:p>
          <a:p>
            <a:pPr>
              <a:defRPr sz="1600">
                <a:solidFill>
                  <a:srgbClr val="F1F5F9"/>
                </a:solidFill>
              </a:defRPr>
            </a:pPr>
            <a:r>
              <a:t>  ・**Flask (Python) + SQLite3**: 軽量かつ超高速なサーバーサイド動作。</a:t>
            </a:r>
            <a:br/>
            <a:r>
              <a:t>  ・**LINE Messaging API + Open-Meteo API + Gemini Pro**: 世界最高レベルのクラウドサービス群を、`app.py` という1つの頭脳で同期制御。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ADE80"/>
                </a:solidFill>
                <a:latin typeface="Outfit"/>
              </a:defRPr>
            </a:pPr>
            <a:r>
              <a:t>🚀 今後のビジョン ＆ 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>
                <a:solidFill>
                  <a:srgbClr val="F1F5F9"/>
                </a:solidFill>
              </a:defRPr>
            </a:pPr>
            <a:r>
              <a:t>「食品管理をスマートに、地球と家計に優しい未来を創る」</a:t>
            </a:r>
          </a:p>
          <a:p>
            <a:pPr>
              <a:spcAft>
                <a:spcPts val="400"/>
              </a:spcAft>
              <a:defRPr sz="1900" b="1">
                <a:solidFill>
                  <a:srgbClr val="4ADE80"/>
                </a:solidFill>
              </a:defRPr>
            </a:pPr>
            <a:r>
              <a:t>📈 1. 廃棄・消費の「家計改善分析レポート（グラフ化）」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  ・無駄に捨ててしまう食材の傾向をビジュアル化し、さらなる家計・エコ改善を促進する機能。</a:t>
            </a:r>
          </a:p>
          <a:p>
            <a:pPr>
              <a:spcAft>
                <a:spcPts val="400"/>
              </a:spcAft>
              <a:defRPr sz="1900" b="1">
                <a:solidFill>
                  <a:srgbClr val="4ADE80"/>
                </a:solidFill>
              </a:defRPr>
            </a:pPr>
            <a:r>
              <a:t>🛒 2. AIによるパーソナライズ「賢い買い出し提案」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  ・過去の消費ペースをAIが学習し、「そろそろこれが無くなります」とLINEで先回り提案。</a:t>
            </a:r>
          </a:p>
          <a:p>
            <a:pPr>
              <a:spcAft>
                <a:spcPts val="400"/>
              </a:spcAft>
              <a:defRPr sz="1900" b="1">
                <a:solidFill>
                  <a:srgbClr val="4ADE80"/>
                </a:solidFill>
              </a:defRPr>
            </a:pPr>
            <a:r>
              <a:t>🌿 3. コミュニティSDGsとしての活用</a:t>
            </a:r>
          </a:p>
          <a:p>
            <a:pPr>
              <a:defRPr sz="1600">
                <a:solidFill>
                  <a:srgbClr val="F1F5F9"/>
                </a:solidFill>
              </a:defRPr>
            </a:pPr>
            <a:r>
              <a:t>  ・学校や地域全体の「削減ロス量」を合算し、自治体のSDGs評価に繋げるプラットフォーム化。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